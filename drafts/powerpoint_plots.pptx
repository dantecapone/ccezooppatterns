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4" r:id="rId3"/>
    <p:sldId id="257" r:id="rId4"/>
    <p:sldId id="261" r:id="rId5"/>
    <p:sldId id="297" r:id="rId6"/>
    <p:sldId id="258" r:id="rId7"/>
    <p:sldId id="296" r:id="rId8"/>
    <p:sldId id="288" r:id="rId9"/>
    <p:sldId id="287" r:id="rId10"/>
    <p:sldId id="289" r:id="rId11"/>
    <p:sldId id="299" r:id="rId12"/>
    <p:sldId id="260" r:id="rId13"/>
    <p:sldId id="286" r:id="rId14"/>
    <p:sldId id="285" r:id="rId15"/>
    <p:sldId id="298" r:id="rId16"/>
    <p:sldId id="293" r:id="rId17"/>
    <p:sldId id="264" r:id="rId18"/>
    <p:sldId id="269" r:id="rId19"/>
    <p:sldId id="268" r:id="rId20"/>
    <p:sldId id="265" r:id="rId21"/>
    <p:sldId id="267" r:id="rId22"/>
    <p:sldId id="271" r:id="rId23"/>
    <p:sldId id="273" r:id="rId24"/>
    <p:sldId id="278" r:id="rId25"/>
    <p:sldId id="279" r:id="rId26"/>
    <p:sldId id="280" r:id="rId27"/>
    <p:sldId id="277" r:id="rId28"/>
    <p:sldId id="281" r:id="rId29"/>
    <p:sldId id="282" r:id="rId30"/>
    <p:sldId id="283" r:id="rId31"/>
    <p:sldId id="284" r:id="rId3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E17F-59B5-17F6-EC02-487EAE9A6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49AB8-C5DB-83B0-0EC0-4A4B461EF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9AEDD-078B-9777-C16D-B24651890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04A6C-119D-4081-ABD8-9FFC2E68221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408A8-7B65-E53E-0F8A-56FE86B19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C547E-2F47-FC43-8D4A-6EF126345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4F06-17F3-4AA6-80A5-81AE77A77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6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CEE97-A9C2-CA63-8392-206D8D91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78E92-D83B-737B-B873-737F87D02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124A2-13C9-8475-FB88-9BB02235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04A6C-119D-4081-ABD8-9FFC2E68221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AA0C3-1EC0-68FE-64A5-DD0921D4A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EE959-12E0-3691-831A-5C973C2CF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4F06-17F3-4AA6-80A5-81AE77A77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7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4C1F1-D65A-22BC-B39C-44F5C604A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7F457-6E6C-333D-DE93-3ED4BFA97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EA68E-65C2-2877-23FA-8B395CD02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04A6C-119D-4081-ABD8-9FFC2E68221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995C6-3C11-1492-F3FE-15FC25E5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BFE1E-0246-B80A-C082-57196364A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4F06-17F3-4AA6-80A5-81AE77A77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72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A697-94A3-2761-663E-E53276121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F10D0-B4CD-4D10-3C88-104FA055DF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1964C-49CE-738F-B0B7-DA23150FB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A0D37-4260-4FF9-3291-903CCDDF0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04A6C-119D-4081-ABD8-9FFC2E68221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1D72E-28DF-C09C-841A-DBB42A921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88786-858A-89F0-DF46-776D0F2F8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4F06-17F3-4AA6-80A5-81AE77A77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37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BEEAE-AE1F-D725-1B01-D18E40517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88810-0D92-DEFF-66A6-A08C6D4BC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DE3D1-D417-C6B6-F3D3-E2373771A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3A93EE-99DE-3611-0F8A-401C13509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CD13AC-35D8-6BB0-2A83-84B87F077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CA0C9F-7357-26AD-8B15-3E30C4E5D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04A6C-119D-4081-ABD8-9FFC2E68221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1E6F51-A456-BC36-7771-06C56041E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2B9F0D-502A-62C5-BD5B-66BE40FF2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4F06-17F3-4AA6-80A5-81AE77A77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19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1320-654A-25A9-61E8-256BF4E59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933D1B-D808-C10D-DBDF-176A7497F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04A6C-119D-4081-ABD8-9FFC2E68221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83C1C8-82EA-6C5B-C093-0CBD94016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71A731-789B-70AB-C46D-5143625C9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4F06-17F3-4AA6-80A5-81AE77A77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84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251E0A-F2B1-CC03-35C0-9523C1085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04A6C-119D-4081-ABD8-9FFC2E68221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46D36E-1E0D-0D6E-5AA7-4CC7C3762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AA2E9-302E-34F7-945F-A41057B2D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4F06-17F3-4AA6-80A5-81AE77A77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59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63C0B-A0F3-6D0E-9B8B-8856DD5D6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952EB-696F-BE40-4AB8-D85A014DE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029F5-D4F6-FA47-E6BC-5F78EAA89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9D7645-D988-2D28-3135-D1385AABC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04A6C-119D-4081-ABD8-9FFC2E68221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EAB509-E631-8425-3386-2B5865688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EB5ED-A4F7-49D9-A642-88224E7D5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4F06-17F3-4AA6-80A5-81AE77A77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084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DFD97-89A4-2176-1375-CCDCC0DEB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4BF6A4-EC02-5693-F7D6-B80F3AFECF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18C21-CA5F-FE56-637B-BB6676018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125B1-D997-AEB8-E540-9A9DBE157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04A6C-119D-4081-ABD8-9FFC2E68221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96ABF-257A-2901-D7C7-B0FB8C2FF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4EEE0-5673-A8F3-ED0B-7FFFEBC19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4F06-17F3-4AA6-80A5-81AE77A77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812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503AE-A18E-EC80-D09B-58EB8C96E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FBE76-6D1D-49AC-A5A7-2822396D2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87058-0DE7-9926-EE8F-17ED710E4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04A6C-119D-4081-ABD8-9FFC2E68221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2406C-A603-9B91-D360-48E4EFBAC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35B1C-59DB-7E32-C923-F60FBE654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4F06-17F3-4AA6-80A5-81AE77A77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09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A8EEF1-EC43-547C-B5B9-153685267E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41ACC-4481-CBA5-63AB-6F175D23E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5CB37-C3B9-7C05-D56A-34A83A44A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04A6C-119D-4081-ABD8-9FFC2E68221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3BFDE-15BB-C0E7-37CA-8E47848F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B4BBC-511D-8D4E-4CA6-1C603ACDE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94F06-17F3-4AA6-80A5-81AE77A77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45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6871E5-E722-B797-27DA-27BA0CA28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394D0-5B4B-95E3-8D1B-D8B5EE77D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661A2-918C-04BD-CBD9-D7621DE6DF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804A6C-119D-4081-ABD8-9FFC2E68221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41994-2711-828B-6815-1C07018539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890C7-FE0E-9F5D-C394-E0DB1C6BB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794F06-17F3-4AA6-80A5-81AE77A77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08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F4B17-9F76-67DF-E388-206832DB03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Metabarcoding Paper Plots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453A8E-5C01-58FB-D349-AC9EE612AE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64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88CBD-0E26-C036-4701-0E0ADC98F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Q1: Physical Environmental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61933-133A-1CBB-637B-06EF9C679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318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7793-5DFA-183F-F0DC-0D9EEC665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</a:t>
            </a:r>
          </a:p>
        </p:txBody>
      </p:sp>
      <p:pic>
        <p:nvPicPr>
          <p:cNvPr id="3" name="Picture 2" descr="A diagram of a graph&#10;&#10;Description automatically generated">
            <a:extLst>
              <a:ext uri="{FF2B5EF4-FFF2-40B4-BE49-F238E27FC236}">
                <a16:creationId xmlns:a16="http://schemas.microsoft.com/office/drawing/2014/main" id="{CC375289-D87B-130D-ED58-D3A8007EBAF7}"/>
              </a:ext>
            </a:extLst>
          </p:cNvPr>
          <p:cNvPicPr/>
          <p:nvPr/>
        </p:nvPicPr>
        <p:blipFill>
          <a:blip r:embed="rId2"/>
          <a:srcRect l="25524" r="25303"/>
          <a:stretch>
            <a:fillRect/>
          </a:stretch>
        </p:blipFill>
        <p:spPr>
          <a:xfrm>
            <a:off x="604837" y="1271587"/>
            <a:ext cx="4238625" cy="4314825"/>
          </a:xfrm>
          <a:prstGeom prst="rect">
            <a:avLst/>
          </a:prstGeom>
          <a:ln/>
        </p:spPr>
      </p:pic>
      <p:pic>
        <p:nvPicPr>
          <p:cNvPr id="4" name="Picture 3" descr="A graph of a number of blue bars&#10;&#10;Description automatically generated with medium confidence">
            <a:extLst>
              <a:ext uri="{FF2B5EF4-FFF2-40B4-BE49-F238E27FC236}">
                <a16:creationId xmlns:a16="http://schemas.microsoft.com/office/drawing/2014/main" id="{15E68BFD-835D-7790-47EA-2A93D4B01425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334000" y="558799"/>
            <a:ext cx="5943600" cy="2870200"/>
          </a:xfrm>
          <a:prstGeom prst="rect">
            <a:avLst/>
          </a:prstGeom>
          <a:ln/>
        </p:spPr>
      </p:pic>
      <p:pic>
        <p:nvPicPr>
          <p:cNvPr id="5" name="Picture 4" descr="A graph of different types of minerals&#10;&#10;Description automatically generated">
            <a:extLst>
              <a:ext uri="{FF2B5EF4-FFF2-40B4-BE49-F238E27FC236}">
                <a16:creationId xmlns:a16="http://schemas.microsoft.com/office/drawing/2014/main" id="{C359B0F4-776F-6D63-19DD-49B0D26C2616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334000" y="3622673"/>
            <a:ext cx="5943600" cy="28702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101290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27E82-7E54-AF30-D0B9-272866965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200B9F-7AC6-8F7E-F51A-8CA799E94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Q1</a:t>
            </a:r>
          </a:p>
        </p:txBody>
      </p:sp>
      <p:pic>
        <p:nvPicPr>
          <p:cNvPr id="5" name="Picture 4" descr="A map with a map of the united states&#10;&#10;Description automatically generated">
            <a:extLst>
              <a:ext uri="{FF2B5EF4-FFF2-40B4-BE49-F238E27FC236}">
                <a16:creationId xmlns:a16="http://schemas.microsoft.com/office/drawing/2014/main" id="{16E5D41E-7E8E-9D29-A550-8B1A1A7B4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2204720"/>
            <a:ext cx="6914125" cy="35243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CFAC96-8C84-28A6-AB2C-EFE0ED4673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125" y="2245690"/>
            <a:ext cx="5131087" cy="384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571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1B6A5-462D-CAA1-133A-D926F1529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AEA7D-270B-F270-FD03-818696404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Q2: </a:t>
            </a:r>
            <a:r>
              <a:rPr lang="en-US" sz="3600" b="1" dirty="0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Comparison of Zooplankton Community with Physical Environmental Properties</a:t>
            </a:r>
            <a:br>
              <a:rPr lang="en-US" sz="1800" b="1" dirty="0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69621-AECB-B836-12D2-1CD2BC7DE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39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42F29-58F3-09A0-1A58-116196937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7F658981-21D6-D234-5CCE-7B883E1853B3}"/>
              </a:ext>
            </a:extLst>
          </p:cNvPr>
          <p:cNvGrpSpPr/>
          <p:nvPr/>
        </p:nvGrpSpPr>
        <p:grpSpPr>
          <a:xfrm>
            <a:off x="1992748" y="261125"/>
            <a:ext cx="8947907" cy="6425820"/>
            <a:chOff x="1992748" y="261125"/>
            <a:chExt cx="8947907" cy="6425820"/>
          </a:xfrm>
        </p:grpSpPr>
        <p:pic>
          <p:nvPicPr>
            <p:cNvPr id="6" name="Picture 5" descr="A diagram of a graph&#10;&#10;Description automatically generated">
              <a:extLst>
                <a:ext uri="{FF2B5EF4-FFF2-40B4-BE49-F238E27FC236}">
                  <a16:creationId xmlns:a16="http://schemas.microsoft.com/office/drawing/2014/main" id="{95DFBE38-712E-879A-850D-DA204875CC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67"/>
            <a:stretch/>
          </p:blipFill>
          <p:spPr>
            <a:xfrm>
              <a:off x="2829145" y="3498562"/>
              <a:ext cx="4445272" cy="3188383"/>
            </a:xfrm>
            <a:prstGeom prst="rect">
              <a:avLst/>
            </a:prstGeom>
          </p:spPr>
        </p:pic>
        <p:pic>
          <p:nvPicPr>
            <p:cNvPr id="8" name="Picture 7" descr="A screenshot of a graph&#10;&#10;Description automatically generated">
              <a:extLst>
                <a:ext uri="{FF2B5EF4-FFF2-40B4-BE49-F238E27FC236}">
                  <a16:creationId xmlns:a16="http://schemas.microsoft.com/office/drawing/2014/main" id="{8F2F6EF9-E476-6419-C06A-4B8583F936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36" r="5098"/>
            <a:stretch/>
          </p:blipFill>
          <p:spPr>
            <a:xfrm>
              <a:off x="7211339" y="3498562"/>
              <a:ext cx="3729316" cy="3188382"/>
            </a:xfrm>
            <a:prstGeom prst="rect">
              <a:avLst/>
            </a:prstGeom>
          </p:spPr>
        </p:pic>
        <p:pic>
          <p:nvPicPr>
            <p:cNvPr id="10" name="Picture 9" descr="A diagram of a graph&#10;&#10;Description automatically generated">
              <a:extLst>
                <a:ext uri="{FF2B5EF4-FFF2-40B4-BE49-F238E27FC236}">
                  <a16:creationId xmlns:a16="http://schemas.microsoft.com/office/drawing/2014/main" id="{21B47B56-20DD-94D8-31CF-C023879D26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139"/>
            <a:stretch/>
          </p:blipFill>
          <p:spPr>
            <a:xfrm>
              <a:off x="2829145" y="261125"/>
              <a:ext cx="4382194" cy="3150590"/>
            </a:xfrm>
            <a:prstGeom prst="rect">
              <a:avLst/>
            </a:prstGeom>
          </p:spPr>
        </p:pic>
        <p:pic>
          <p:nvPicPr>
            <p:cNvPr id="12" name="Picture 11" descr="A screenshot of a graph&#10;&#10;Description automatically generated">
              <a:extLst>
                <a:ext uri="{FF2B5EF4-FFF2-40B4-BE49-F238E27FC236}">
                  <a16:creationId xmlns:a16="http://schemas.microsoft.com/office/drawing/2014/main" id="{B10D444E-176E-1384-9977-6DF91E2B0F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78" r="5841"/>
            <a:stretch/>
          </p:blipFill>
          <p:spPr>
            <a:xfrm>
              <a:off x="7211339" y="261125"/>
              <a:ext cx="3639122" cy="315059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48A5E77-5DB7-FE02-D1F2-EFA3479EAC1F}"/>
                </a:ext>
              </a:extLst>
            </p:cNvPr>
            <p:cNvSpPr txBox="1"/>
            <p:nvPr/>
          </p:nvSpPr>
          <p:spPr>
            <a:xfrm>
              <a:off x="1992748" y="1608592"/>
              <a:ext cx="12068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76656">
                <a:spcAft>
                  <a:spcPts val="600"/>
                </a:spcAft>
              </a:pPr>
              <a:r>
                <a:rPr lang="en-US" sz="2400" i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COI</a:t>
              </a:r>
              <a:endParaRPr lang="en-US" sz="2400" i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78E8A9-D92F-BCED-B5A0-B284E6BC4869}"/>
                </a:ext>
              </a:extLst>
            </p:cNvPr>
            <p:cNvSpPr txBox="1"/>
            <p:nvPr/>
          </p:nvSpPr>
          <p:spPr>
            <a:xfrm>
              <a:off x="1992748" y="4861920"/>
              <a:ext cx="12068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76656">
                <a:spcAft>
                  <a:spcPts val="600"/>
                </a:spcAft>
              </a:pPr>
              <a:r>
                <a:rPr lang="en-US" sz="2400" i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18S</a:t>
              </a:r>
              <a:endParaRPr lang="en-US" sz="24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820263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CB76B-27F4-ACBA-9A50-6424E5597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742F8-B5B8-1500-0F54-CC11A67E2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Q3: </a:t>
            </a:r>
            <a:r>
              <a:rPr lang="en-US" sz="3600" b="1" dirty="0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Community Composition</a:t>
            </a:r>
            <a:br>
              <a:rPr lang="en-US" sz="1800" b="1" dirty="0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42B2C-73D4-1680-E778-BDEB7F802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50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F04783-E47C-85A5-8C5B-161BE5217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colorful squares with white text&#10;&#10;Description automatically generated">
            <a:extLst>
              <a:ext uri="{FF2B5EF4-FFF2-40B4-BE49-F238E27FC236}">
                <a16:creationId xmlns:a16="http://schemas.microsoft.com/office/drawing/2014/main" id="{DBE0058E-BED2-A42A-EE90-AFF0F659A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8" y="711200"/>
            <a:ext cx="5414963" cy="4318000"/>
          </a:xfrm>
          <a:prstGeom prst="rect">
            <a:avLst/>
          </a:prstGeom>
        </p:spPr>
      </p:pic>
      <p:pic>
        <p:nvPicPr>
          <p:cNvPr id="7" name="Picture 6" descr="A close-up of a chart&#10;&#10;Description automatically generated">
            <a:extLst>
              <a:ext uri="{FF2B5EF4-FFF2-40B4-BE49-F238E27FC236}">
                <a16:creationId xmlns:a16="http://schemas.microsoft.com/office/drawing/2014/main" id="{FE3DDAD1-C2F6-589C-E71F-9E7789177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513" y="711200"/>
            <a:ext cx="5414963" cy="431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4E9697-3195-FB26-4949-543642088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Q3: Community Composition </a:t>
            </a:r>
          </a:p>
        </p:txBody>
      </p:sp>
    </p:spTree>
    <p:extLst>
      <p:ext uri="{BB962C8B-B14F-4D97-AF65-F5344CB8AC3E}">
        <p14:creationId xmlns:p14="http://schemas.microsoft.com/office/powerpoint/2010/main" val="1394326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screenshot of a chart&#10;&#10;Description automatically generated">
            <a:extLst>
              <a:ext uri="{FF2B5EF4-FFF2-40B4-BE49-F238E27FC236}">
                <a16:creationId xmlns:a16="http://schemas.microsoft.com/office/drawing/2014/main" id="{E9DA4A3E-3408-E5D1-D11D-20F37A0C3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8" y="711200"/>
            <a:ext cx="5414963" cy="4318000"/>
          </a:xfrm>
          <a:prstGeom prst="rect">
            <a:avLst/>
          </a:prstGeom>
        </p:spPr>
      </p:pic>
      <p:pic>
        <p:nvPicPr>
          <p:cNvPr id="10" name="Picture 9" descr="A close-up of a chart&#10;&#10;Description automatically generated">
            <a:extLst>
              <a:ext uri="{FF2B5EF4-FFF2-40B4-BE49-F238E27FC236}">
                <a16:creationId xmlns:a16="http://schemas.microsoft.com/office/drawing/2014/main" id="{E6E72EB0-403A-0E14-6E4A-DF6F48A98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513" y="711200"/>
            <a:ext cx="5414963" cy="431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14A81E-E81B-0C47-6DC9-10686A37D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Q3: Community Composition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D5D1D9-22F6-E7F3-BF12-BBD77691C538}"/>
              </a:ext>
            </a:extLst>
          </p:cNvPr>
          <p:cNvSpPr txBox="1"/>
          <p:nvPr/>
        </p:nvSpPr>
        <p:spPr>
          <a:xfrm>
            <a:off x="568326" y="-2462"/>
            <a:ext cx="13529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/>
              <a:t>18S</a:t>
            </a:r>
          </a:p>
        </p:txBody>
      </p:sp>
    </p:spTree>
    <p:extLst>
      <p:ext uri="{BB962C8B-B14F-4D97-AF65-F5344CB8AC3E}">
        <p14:creationId xmlns:p14="http://schemas.microsoft.com/office/powerpoint/2010/main" val="2520491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63303C-CC25-F3AC-A2A5-C44FC7C96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896E3C65-7E13-4473-ACD1-49BDDA486F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8" y="711200"/>
            <a:ext cx="5414963" cy="4318000"/>
          </a:xfrm>
          <a:prstGeom prst="rect">
            <a:avLst/>
          </a:prstGeom>
        </p:spPr>
      </p:pic>
      <p:pic>
        <p:nvPicPr>
          <p:cNvPr id="7" name="Picture 6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7C9AC014-E389-6DC8-C290-BD88FB3199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513" y="711200"/>
            <a:ext cx="5414963" cy="431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DE2B01-3F1A-B2A3-7DCA-0A0D2A3F8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Q3: Community Composition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3033F-31C7-E45F-6D82-DB68073BD253}"/>
              </a:ext>
            </a:extLst>
          </p:cNvPr>
          <p:cNvSpPr txBox="1"/>
          <p:nvPr/>
        </p:nvSpPr>
        <p:spPr>
          <a:xfrm>
            <a:off x="568326" y="-2462"/>
            <a:ext cx="13529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/>
              <a:t>COI</a:t>
            </a:r>
          </a:p>
        </p:txBody>
      </p:sp>
    </p:spTree>
    <p:extLst>
      <p:ext uri="{BB962C8B-B14F-4D97-AF65-F5344CB8AC3E}">
        <p14:creationId xmlns:p14="http://schemas.microsoft.com/office/powerpoint/2010/main" val="1283109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B2B56-46CE-792A-F7EB-F308A1795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3EC6-07FC-172F-B57D-0B81530C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Q4:</a:t>
            </a:r>
            <a:r>
              <a:rPr lang="en-US" sz="4000" dirty="0"/>
              <a:t> </a:t>
            </a:r>
            <a:r>
              <a:rPr lang="en-US" sz="4400" b="1" dirty="0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Zooplankton Taxon and Size-specific relationships with Environmental Properties</a:t>
            </a:r>
            <a:br>
              <a:rPr lang="en-US" sz="4400" b="1" dirty="0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EBD47-84A7-BA3A-1642-E0D4BF07A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44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0BDE7B-7CB3-A4EA-3567-F81832EBD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57C6C5-C34C-AB42-C1A4-FEA762114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Q3: Patterns with Environment (Raw COI)</a:t>
            </a:r>
          </a:p>
        </p:txBody>
      </p:sp>
      <p:pic>
        <p:nvPicPr>
          <p:cNvPr id="8" name="Picture 7" descr="A screenshot of a video game&#10;&#10;Description automatically generated">
            <a:extLst>
              <a:ext uri="{FF2B5EF4-FFF2-40B4-BE49-F238E27FC236}">
                <a16:creationId xmlns:a16="http://schemas.microsoft.com/office/drawing/2014/main" id="{22C49083-9621-E841-3281-AFE2894E1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827626"/>
            <a:ext cx="10905066" cy="408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946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4A5CE6-3BF0-57CE-431E-9B51BA1C0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66E934-623A-E78F-234B-1B5964629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Q3: Patterns with Environment (Raw COI)</a:t>
            </a:r>
          </a:p>
        </p:txBody>
      </p:sp>
      <p:pic>
        <p:nvPicPr>
          <p:cNvPr id="4" name="Picture 3" descr="A screenshot of a video game&#10;&#10;Description automatically generated">
            <a:extLst>
              <a:ext uri="{FF2B5EF4-FFF2-40B4-BE49-F238E27FC236}">
                <a16:creationId xmlns:a16="http://schemas.microsoft.com/office/drawing/2014/main" id="{753129F1-2641-55C2-13C8-DE4EAF437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827626"/>
            <a:ext cx="10905066" cy="408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812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60657-93B5-58B3-C11C-8EDCFE3C2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pic>
        <p:nvPicPr>
          <p:cNvPr id="12" name="Picture 11" descr="A screenshot of a video game&#10;&#10;Description automatically generated">
            <a:extLst>
              <a:ext uri="{FF2B5EF4-FFF2-40B4-BE49-F238E27FC236}">
                <a16:creationId xmlns:a16="http://schemas.microsoft.com/office/drawing/2014/main" id="{DC594BA9-0F8D-CD5D-533E-C52EF901C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827626"/>
            <a:ext cx="10905066" cy="408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93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EFB22-A3F4-7E26-CF1D-02D4957DD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B957C-9260-3342-F8F1-FA51FE20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Q5:</a:t>
            </a:r>
            <a:r>
              <a:rPr lang="en-US" sz="4000" dirty="0"/>
              <a:t> </a:t>
            </a:r>
            <a:r>
              <a:rPr lang="en-US" sz="4000" b="1" dirty="0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Variable PCR Experiment, </a:t>
            </a:r>
            <a:r>
              <a:rPr lang="en-US" sz="4000" b="1" dirty="0" err="1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Zooscan</a:t>
            </a:r>
            <a:r>
              <a:rPr lang="en-US" sz="4000" b="1" dirty="0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Comparison of Estimates of Zooplankton Abundance</a:t>
            </a:r>
            <a:br>
              <a:rPr lang="en-US" sz="1800" b="1" dirty="0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05732-81CB-7EE4-ACB7-D6D52CE8E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26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D18265-E29B-3784-FAE2-1ABF1F921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Fido Amplification Efficiencies (Supplemental)</a:t>
            </a:r>
          </a:p>
        </p:txBody>
      </p:sp>
      <p:pic>
        <p:nvPicPr>
          <p:cNvPr id="14" name="Picture 13" descr="A screenshot of a graph&#10;&#10;Description automatically generated">
            <a:extLst>
              <a:ext uri="{FF2B5EF4-FFF2-40B4-BE49-F238E27FC236}">
                <a16:creationId xmlns:a16="http://schemas.microsoft.com/office/drawing/2014/main" id="{91AF619B-99B0-D79F-C7C5-21837FCB3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936" y="1694806"/>
            <a:ext cx="4199768" cy="5044764"/>
          </a:xfrm>
          <a:prstGeom prst="rect">
            <a:avLst/>
          </a:prstGeom>
        </p:spPr>
      </p:pic>
      <p:pic>
        <p:nvPicPr>
          <p:cNvPr id="20" name="Picture 19" descr="A screenshot of a computer&#10;&#10;Description automatically generated">
            <a:extLst>
              <a:ext uri="{FF2B5EF4-FFF2-40B4-BE49-F238E27FC236}">
                <a16:creationId xmlns:a16="http://schemas.microsoft.com/office/drawing/2014/main" id="{8FC356EB-1E38-B843-F2EE-052A5777C2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493" y="1694554"/>
            <a:ext cx="4199974" cy="504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649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DA204-03F3-CC85-2CB2-FBC50EB1E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96B7F-D761-F260-AAF8-56E9A7799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Q5</a:t>
            </a:r>
          </a:p>
        </p:txBody>
      </p:sp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0A66E9BC-23C1-5936-D89C-389FD826D7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70" y="1563053"/>
            <a:ext cx="5603240" cy="4202430"/>
          </a:xfrm>
          <a:prstGeom prst="rect">
            <a:avLst/>
          </a:prstGeom>
        </p:spPr>
      </p:pic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83C5854F-BAA7-A91B-546F-8892B1BBB9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563053"/>
            <a:ext cx="5603240" cy="420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479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8C606-D40B-E4AF-6861-CEC5CC6AF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5BD72213-396B-8B81-0180-BA2A5C6DB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758" y="1938338"/>
            <a:ext cx="5489367" cy="411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714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FA04931-7476-558C-9D8B-6F38B44EF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CA2BE-C3DA-95BD-E778-6E2009610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1B56A5C8-1533-258A-12F5-8D17C77BA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2907"/>
            <a:ext cx="6430400" cy="48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843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EA195-1583-CDCF-6190-128604838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C1EAFBA-0A3E-6178-8A5A-64C8D544E92F}"/>
              </a:ext>
            </a:extLst>
          </p:cNvPr>
          <p:cNvGrpSpPr/>
          <p:nvPr/>
        </p:nvGrpSpPr>
        <p:grpSpPr>
          <a:xfrm>
            <a:off x="112846" y="208280"/>
            <a:ext cx="11966308" cy="6441439"/>
            <a:chOff x="-339274" y="203200"/>
            <a:chExt cx="12023274" cy="6197599"/>
          </a:xfrm>
        </p:grpSpPr>
        <p:pic>
          <p:nvPicPr>
            <p:cNvPr id="14" name="Picture 21" descr="A diagram of a graph&#10;&#10;Description automatically generated with medium confidence">
              <a:extLst>
                <a:ext uri="{FF2B5EF4-FFF2-40B4-BE49-F238E27FC236}">
                  <a16:creationId xmlns:a16="http://schemas.microsoft.com/office/drawing/2014/main" id="{518BAECD-FEA7-ED7F-4858-DF37BE71AD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196"/>
            <a:stretch>
              <a:fillRect/>
            </a:stretch>
          </p:blipFill>
          <p:spPr bwMode="auto">
            <a:xfrm>
              <a:off x="-338912" y="3551236"/>
              <a:ext cx="5943600" cy="2849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2" descr="A screen shot of a graph&#10;&#10;Description automatically generated">
              <a:extLst>
                <a:ext uri="{FF2B5EF4-FFF2-40B4-BE49-F238E27FC236}">
                  <a16:creationId xmlns:a16="http://schemas.microsoft.com/office/drawing/2014/main" id="{3A27EAA3-0EC7-08DE-22A7-72689EA4E1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29"/>
            <a:stretch>
              <a:fillRect/>
            </a:stretch>
          </p:blipFill>
          <p:spPr bwMode="auto">
            <a:xfrm>
              <a:off x="-339274" y="787975"/>
              <a:ext cx="5943600" cy="28654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7" descr="A screen shot of a computer screen&#10;&#10;Description automatically generated">
              <a:extLst>
                <a:ext uri="{FF2B5EF4-FFF2-40B4-BE49-F238E27FC236}">
                  <a16:creationId xmlns:a16="http://schemas.microsoft.com/office/drawing/2014/main" id="{7582C7EB-D210-543A-7D77-B6D0AAAA0C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63"/>
            <a:stretch>
              <a:fillRect/>
            </a:stretch>
          </p:blipFill>
          <p:spPr bwMode="auto">
            <a:xfrm>
              <a:off x="5740400" y="3551236"/>
              <a:ext cx="5943600" cy="2849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5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BAF4A50B-8285-B759-3C2D-3134FCA8A0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97"/>
            <a:stretch/>
          </p:blipFill>
          <p:spPr bwMode="auto">
            <a:xfrm>
              <a:off x="5649684" y="787975"/>
              <a:ext cx="5943600" cy="28654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11F7E58-4774-A10B-95C5-2CA0170170AE}"/>
                </a:ext>
              </a:extLst>
            </p:cNvPr>
            <p:cNvSpPr txBox="1"/>
            <p:nvPr/>
          </p:nvSpPr>
          <p:spPr>
            <a:xfrm>
              <a:off x="335280" y="203200"/>
              <a:ext cx="31800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COI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1546EFC-A7E8-8D63-3884-CB5F3162C38B}"/>
                </a:ext>
              </a:extLst>
            </p:cNvPr>
            <p:cNvSpPr txBox="1"/>
            <p:nvPr/>
          </p:nvSpPr>
          <p:spPr>
            <a:xfrm>
              <a:off x="5740400" y="203200"/>
              <a:ext cx="31800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18S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4894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3F030-25A6-6DC9-97B0-A9B0270B8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DE29-DEF5-2BF1-E286-2A6FEEA99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701169B0-03BB-2D04-1042-8A19304045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10" y="888508"/>
            <a:ext cx="7863840" cy="589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89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72FC1-EF2F-BD5E-8ED2-AB9BAE2A8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A88FF644-9C9A-92CF-7DFD-D86EA5A066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840" y="1257299"/>
            <a:ext cx="7306310" cy="547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1110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1AAF3A-BF1E-8F67-BCBB-8272B2849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Correlations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1C65B18-D4E6-C5B2-6820-7317D3550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319242"/>
              </p:ext>
            </p:extLst>
          </p:nvPr>
        </p:nvGraphicFramePr>
        <p:xfrm>
          <a:off x="792816" y="2354239"/>
          <a:ext cx="10606371" cy="39488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8113">
                  <a:extLst>
                    <a:ext uri="{9D8B030D-6E8A-4147-A177-3AD203B41FA5}">
                      <a16:colId xmlns:a16="http://schemas.microsoft.com/office/drawing/2014/main" val="2959424115"/>
                    </a:ext>
                  </a:extLst>
                </a:gridCol>
                <a:gridCol w="1435439">
                  <a:extLst>
                    <a:ext uri="{9D8B030D-6E8A-4147-A177-3AD203B41FA5}">
                      <a16:colId xmlns:a16="http://schemas.microsoft.com/office/drawing/2014/main" val="3832437144"/>
                    </a:ext>
                  </a:extLst>
                </a:gridCol>
                <a:gridCol w="2866580">
                  <a:extLst>
                    <a:ext uri="{9D8B030D-6E8A-4147-A177-3AD203B41FA5}">
                      <a16:colId xmlns:a16="http://schemas.microsoft.com/office/drawing/2014/main" val="1337684699"/>
                    </a:ext>
                  </a:extLst>
                </a:gridCol>
                <a:gridCol w="1183895">
                  <a:extLst>
                    <a:ext uri="{9D8B030D-6E8A-4147-A177-3AD203B41FA5}">
                      <a16:colId xmlns:a16="http://schemas.microsoft.com/office/drawing/2014/main" val="3146218972"/>
                    </a:ext>
                  </a:extLst>
                </a:gridCol>
                <a:gridCol w="1720361">
                  <a:extLst>
                    <a:ext uri="{9D8B030D-6E8A-4147-A177-3AD203B41FA5}">
                      <a16:colId xmlns:a16="http://schemas.microsoft.com/office/drawing/2014/main" val="3774164345"/>
                    </a:ext>
                  </a:extLst>
                </a:gridCol>
                <a:gridCol w="1561983">
                  <a:extLst>
                    <a:ext uri="{9D8B030D-6E8A-4147-A177-3AD203B41FA5}">
                      <a16:colId xmlns:a16="http://schemas.microsoft.com/office/drawing/2014/main" val="711484498"/>
                    </a:ext>
                  </a:extLst>
                </a:gridCol>
              </a:tblGrid>
              <a:tr h="494139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effectLst/>
                        </a:rPr>
                        <a:t>RRA vs. Zooscan Biomass Proportion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effectLst/>
                        </a:rPr>
                        <a:t>PCR Corrected vs. Zooscan Biomass Proportion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734862"/>
                  </a:ext>
                </a:extLst>
              </a:tr>
              <a:tr h="27303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18s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COI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18s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COI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extLst>
                  <a:ext uri="{0D108BD9-81ED-4DB2-BD59-A6C34878D82A}">
                    <a16:rowId xmlns:a16="http://schemas.microsoft.com/office/drawing/2014/main" val="3202483380"/>
                  </a:ext>
                </a:extLst>
              </a:tr>
              <a:tr h="27303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R 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R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R 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R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extLst>
                  <a:ext uri="{0D108BD9-81ED-4DB2-BD59-A6C34878D82A}">
                    <a16:rowId xmlns:a16="http://schemas.microsoft.com/office/drawing/2014/main" val="2368652781"/>
                  </a:ext>
                </a:extLst>
              </a:tr>
              <a:tr h="27303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Strata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extLst>
                  <a:ext uri="{0D108BD9-81ED-4DB2-BD59-A6C34878D82A}">
                    <a16:rowId xmlns:a16="http://schemas.microsoft.com/office/drawing/2014/main" val="533039217"/>
                  </a:ext>
                </a:extLst>
              </a:tr>
              <a:tr h="27303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>
                          <a:effectLst/>
                        </a:rPr>
                        <a:t>All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effectLst/>
                        </a:rPr>
                        <a:t>0.39, 0.0056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effectLst/>
                        </a:rPr>
                        <a:t>0.41***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effectLst/>
                        </a:rPr>
                        <a:t>0.42 0.011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effectLst/>
                        </a:rPr>
                        <a:t>0.18 0.31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extLst>
                  <a:ext uri="{0D108BD9-81ED-4DB2-BD59-A6C34878D82A}">
                    <a16:rowId xmlns:a16="http://schemas.microsoft.com/office/drawing/2014/main" val="1688786202"/>
                  </a:ext>
                </a:extLst>
              </a:tr>
              <a:tr h="236182">
                <a:tc rowSpan="5"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>
                          <a:effectLst/>
                        </a:rPr>
                        <a:t>Cycle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extLst>
                  <a:ext uri="{0D108BD9-81ED-4DB2-BD59-A6C34878D82A}">
                    <a16:rowId xmlns:a16="http://schemas.microsoft.com/office/drawing/2014/main" val="1749776970"/>
                  </a:ext>
                </a:extLst>
              </a:tr>
              <a:tr h="2361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extLst>
                  <a:ext uri="{0D108BD9-81ED-4DB2-BD59-A6C34878D82A}">
                    <a16:rowId xmlns:a16="http://schemas.microsoft.com/office/drawing/2014/main" val="2813741521"/>
                  </a:ext>
                </a:extLst>
              </a:tr>
              <a:tr h="2361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extLst>
                  <a:ext uri="{0D108BD9-81ED-4DB2-BD59-A6C34878D82A}">
                    <a16:rowId xmlns:a16="http://schemas.microsoft.com/office/drawing/2014/main" val="2629219832"/>
                  </a:ext>
                </a:extLst>
              </a:tr>
              <a:tr h="2361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extLst>
                  <a:ext uri="{0D108BD9-81ED-4DB2-BD59-A6C34878D82A}">
                    <a16:rowId xmlns:a16="http://schemas.microsoft.com/office/drawing/2014/main" val="3504173413"/>
                  </a:ext>
                </a:extLst>
              </a:tr>
              <a:tr h="2361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T2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extLst>
                  <a:ext uri="{0D108BD9-81ED-4DB2-BD59-A6C34878D82A}">
                    <a16:rowId xmlns:a16="http://schemas.microsoft.com/office/drawing/2014/main" val="512615896"/>
                  </a:ext>
                </a:extLst>
              </a:tr>
              <a:tr h="23618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Size Fraction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0.2-0.5 mm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extLst>
                  <a:ext uri="{0D108BD9-81ED-4DB2-BD59-A6C34878D82A}">
                    <a16:rowId xmlns:a16="http://schemas.microsoft.com/office/drawing/2014/main" val="2731180885"/>
                  </a:ext>
                </a:extLst>
              </a:tr>
              <a:tr h="2361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0.5-1 mm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extLst>
                  <a:ext uri="{0D108BD9-81ED-4DB2-BD59-A6C34878D82A}">
                    <a16:rowId xmlns:a16="http://schemas.microsoft.com/office/drawing/2014/main" val="3702191054"/>
                  </a:ext>
                </a:extLst>
              </a:tr>
              <a:tr h="2361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1-2 mm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extLst>
                  <a:ext uri="{0D108BD9-81ED-4DB2-BD59-A6C34878D82A}">
                    <a16:rowId xmlns:a16="http://schemas.microsoft.com/office/drawing/2014/main" val="204853818"/>
                  </a:ext>
                </a:extLst>
              </a:tr>
              <a:tr h="236182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effectLst/>
                        </a:rPr>
                        <a:t>Onshore/Offshore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Onshore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extLst>
                  <a:ext uri="{0D108BD9-81ED-4DB2-BD59-A6C34878D82A}">
                    <a16:rowId xmlns:a16="http://schemas.microsoft.com/office/drawing/2014/main" val="2061142649"/>
                  </a:ext>
                </a:extLst>
              </a:tr>
              <a:tr h="2361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Offshore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05" marR="7705" marT="7705" marB="0" anchor="b"/>
                </a:tc>
                <a:extLst>
                  <a:ext uri="{0D108BD9-81ED-4DB2-BD59-A6C34878D82A}">
                    <a16:rowId xmlns:a16="http://schemas.microsoft.com/office/drawing/2014/main" val="2883971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4246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F74A2C-1A04-A175-52F5-9A355FDA0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B6C4AC-9F9A-1D47-C77D-28E3D4897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>
            <a:normAutofit/>
          </a:bodyPr>
          <a:lstStyle/>
          <a:p>
            <a:r>
              <a:rPr lang="en-US" sz="5200"/>
              <a:t>COI-all</a:t>
            </a:r>
            <a:br>
              <a:rPr lang="en-US" sz="5200"/>
            </a:br>
            <a:endParaRPr lang="en-US" sz="5200" dirty="0"/>
          </a:p>
        </p:txBody>
      </p:sp>
      <p:pic>
        <p:nvPicPr>
          <p:cNvPr id="6" name="Picture 5" descr="A screen shot of a graph&#10;&#10;Description automatically generated">
            <a:extLst>
              <a:ext uri="{FF2B5EF4-FFF2-40B4-BE49-F238E27FC236}">
                <a16:creationId xmlns:a16="http://schemas.microsoft.com/office/drawing/2014/main" id="{5B1607CC-41CB-D35C-09DC-79E3BDE9C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34" y="2590650"/>
            <a:ext cx="6402157" cy="3201078"/>
          </a:xfrm>
          <a:prstGeom prst="rect">
            <a:avLst/>
          </a:prstGeom>
        </p:spPr>
      </p:pic>
      <p:pic>
        <p:nvPicPr>
          <p:cNvPr id="4" name="Picture 3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FA2AEB4C-BB25-EC8C-84C4-012AF5C9A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505" y="2590650"/>
            <a:ext cx="6402157" cy="320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6037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61F027-0D81-6DA0-E846-FF677041C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6A6056-CC98-5887-385F-36CC44631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>
            <a:normAutofit/>
          </a:bodyPr>
          <a:lstStyle/>
          <a:p>
            <a:r>
              <a:rPr lang="en-US" sz="5200" dirty="0"/>
              <a:t>COI-cycle</a:t>
            </a:r>
            <a:br>
              <a:rPr lang="en-US" sz="5200" dirty="0"/>
            </a:br>
            <a:endParaRPr lang="en-US" sz="5200" dirty="0"/>
          </a:p>
        </p:txBody>
      </p:sp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EAD65B52-91F9-0188-82AD-F3D87B335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29" y="2000250"/>
            <a:ext cx="6268507" cy="3134253"/>
          </a:xfrm>
          <a:prstGeom prst="rect">
            <a:avLst/>
          </a:prstGeom>
        </p:spPr>
      </p:pic>
      <p:pic>
        <p:nvPicPr>
          <p:cNvPr id="7" name="Picture 6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DF0C0653-A9D3-486E-BC9E-D0631BFDBE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00250"/>
            <a:ext cx="6268507" cy="313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45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8CD861-F56C-B642-5318-F9BBA3A24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A3680E-ACCA-30DB-E905-4926CB2F0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>
            <a:normAutofit/>
          </a:bodyPr>
          <a:lstStyle/>
          <a:p>
            <a:r>
              <a:rPr lang="en-US" sz="5200" dirty="0"/>
              <a:t>COI-size</a:t>
            </a:r>
            <a:br>
              <a:rPr lang="en-US" sz="5200" dirty="0"/>
            </a:br>
            <a:endParaRPr lang="en-US" sz="5200" dirty="0"/>
          </a:p>
        </p:txBody>
      </p:sp>
      <p:pic>
        <p:nvPicPr>
          <p:cNvPr id="10" name="Picture 9" descr="A screenshot of a graph&#10;&#10;Description automatically generated">
            <a:extLst>
              <a:ext uri="{FF2B5EF4-FFF2-40B4-BE49-F238E27FC236}">
                <a16:creationId xmlns:a16="http://schemas.microsoft.com/office/drawing/2014/main" id="{DBA44949-9163-3A19-0567-805C67F0A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75" y="1749539"/>
            <a:ext cx="6402157" cy="4058178"/>
          </a:xfrm>
          <a:prstGeom prst="rect">
            <a:avLst/>
          </a:prstGeom>
        </p:spPr>
      </p:pic>
      <p:pic>
        <p:nvPicPr>
          <p:cNvPr id="4" name="Picture 3" descr="A screen shot of a graph&#10;&#10;Description automatically generated">
            <a:extLst>
              <a:ext uri="{FF2B5EF4-FFF2-40B4-BE49-F238E27FC236}">
                <a16:creationId xmlns:a16="http://schemas.microsoft.com/office/drawing/2014/main" id="{4C764305-B244-E275-24B8-61C053077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749539"/>
            <a:ext cx="6402157" cy="405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0326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D223D3-5A59-A42A-B4B9-8E8203BA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>
            <a:normAutofit/>
          </a:bodyPr>
          <a:lstStyle/>
          <a:p>
            <a:r>
              <a:rPr lang="en-US" sz="5200"/>
              <a:t>COI Cluster</a:t>
            </a:r>
          </a:p>
        </p:txBody>
      </p:sp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64210770-EF7E-60E1-421D-E9CC9AC6D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34" y="2877598"/>
            <a:ext cx="5828261" cy="2914130"/>
          </a:xfrm>
          <a:prstGeom prst="rect">
            <a:avLst/>
          </a:prstGeom>
        </p:spPr>
      </p:pic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47747A5D-5B76-B32E-5D4C-4F3CC49E87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505" y="2877598"/>
            <a:ext cx="5828261" cy="291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1056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90AB6-44D8-D67C-FA09-3B37EB6D6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BD674F-1B94-CD0F-FFE6-9BAC9252A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>
            <a:normAutofit/>
          </a:bodyPr>
          <a:lstStyle/>
          <a:p>
            <a:r>
              <a:rPr lang="en-US" sz="5200" dirty="0"/>
              <a:t>18S-all</a:t>
            </a:r>
            <a:br>
              <a:rPr lang="en-US" sz="5200" dirty="0"/>
            </a:br>
            <a:endParaRPr lang="en-US" sz="5200" dirty="0"/>
          </a:p>
        </p:txBody>
      </p:sp>
      <p:pic>
        <p:nvPicPr>
          <p:cNvPr id="8" name="Picture 7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8C2A9987-3320-57A3-9F37-325F4890E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620" y="2225525"/>
            <a:ext cx="5828261" cy="2914130"/>
          </a:xfrm>
          <a:prstGeom prst="rect">
            <a:avLst/>
          </a:prstGeom>
        </p:spPr>
      </p:pic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0583632-05CA-6965-AD25-40811F384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9" y="2235574"/>
            <a:ext cx="5828261" cy="291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340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F239BC-70BE-8044-9992-8ED3EF7A3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690EFE-86BF-58B3-7E01-6276B3A66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>
            <a:normAutofit/>
          </a:bodyPr>
          <a:lstStyle/>
          <a:p>
            <a:r>
              <a:rPr lang="en-US" sz="5200" dirty="0"/>
              <a:t>18S-cycle</a:t>
            </a:r>
            <a:br>
              <a:rPr lang="en-US" sz="5200" dirty="0"/>
            </a:br>
            <a:endParaRPr lang="en-US" sz="5200" dirty="0"/>
          </a:p>
        </p:txBody>
      </p:sp>
      <p:pic>
        <p:nvPicPr>
          <p:cNvPr id="5" name="Picture 4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94D4A4FB-81A4-7CE4-D305-C6A2E52C7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0746"/>
            <a:ext cx="6276976" cy="3368004"/>
          </a:xfrm>
          <a:prstGeom prst="rect">
            <a:avLst/>
          </a:prstGeom>
        </p:spPr>
      </p:pic>
      <p:pic>
        <p:nvPicPr>
          <p:cNvPr id="8" name="Picture 7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C26BFE1B-1397-4F38-87B3-6E0AF7710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850" y="1946946"/>
            <a:ext cx="6736009" cy="336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0664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5FCF09-4E89-31FD-B587-CB71E16B6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8C097-0DA3-DCE8-2F0D-36F7AD6C9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>
            <a:normAutofit/>
          </a:bodyPr>
          <a:lstStyle/>
          <a:p>
            <a:r>
              <a:rPr lang="en-US" sz="5200" dirty="0"/>
              <a:t>18S-size</a:t>
            </a:r>
            <a:br>
              <a:rPr lang="en-US" sz="5200" dirty="0"/>
            </a:br>
            <a:endParaRPr lang="en-US" sz="5200" dirty="0"/>
          </a:p>
        </p:txBody>
      </p:sp>
      <p:pic>
        <p:nvPicPr>
          <p:cNvPr id="12" name="Picture 11" descr="A screen shot of a graph&#10;&#10;Description automatically generated">
            <a:extLst>
              <a:ext uri="{FF2B5EF4-FFF2-40B4-BE49-F238E27FC236}">
                <a16:creationId xmlns:a16="http://schemas.microsoft.com/office/drawing/2014/main" id="{3D6DA348-B379-74E0-C832-342AB83E7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75" y="1828800"/>
            <a:ext cx="6402157" cy="3743853"/>
          </a:xfrm>
          <a:prstGeom prst="rect">
            <a:avLst/>
          </a:prstGeom>
        </p:spPr>
      </p:pic>
      <p:pic>
        <p:nvPicPr>
          <p:cNvPr id="14" name="Picture 13" descr="A screenshot of a graph&#10;&#10;Description automatically generated">
            <a:extLst>
              <a:ext uri="{FF2B5EF4-FFF2-40B4-BE49-F238E27FC236}">
                <a16:creationId xmlns:a16="http://schemas.microsoft.com/office/drawing/2014/main" id="{E3F8FA06-DEE2-2525-8498-4036844E4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8800"/>
            <a:ext cx="6402157" cy="374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3251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D5DAE9-1342-1AD5-89C1-4A88A61AD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9AEB6A-73E6-83C1-0875-2017E61B5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>
            <a:normAutofit/>
          </a:bodyPr>
          <a:lstStyle/>
          <a:p>
            <a:r>
              <a:rPr lang="en-US" sz="5200" dirty="0"/>
              <a:t>18S Cluster</a:t>
            </a:r>
          </a:p>
        </p:txBody>
      </p:sp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DB53AF5F-08C0-46E3-2C8A-917D5BD8E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701" y="1832549"/>
            <a:ext cx="6191250" cy="3721054"/>
          </a:xfrm>
          <a:prstGeom prst="rect">
            <a:avLst/>
          </a:prstGeom>
        </p:spPr>
      </p:pic>
      <p:pic>
        <p:nvPicPr>
          <p:cNvPr id="8" name="Picture 7" descr="A screenshot of a graph&#10;&#10;Description automatically generated">
            <a:extLst>
              <a:ext uri="{FF2B5EF4-FFF2-40B4-BE49-F238E27FC236}">
                <a16:creationId xmlns:a16="http://schemas.microsoft.com/office/drawing/2014/main" id="{40E6E46A-98CA-AF6D-7501-11883B45F5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" y="1832549"/>
            <a:ext cx="6191250" cy="372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966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17896</TotalTime>
  <Words>174</Words>
  <Application>Microsoft Office PowerPoint</Application>
  <PresentationFormat>Widescreen</PresentationFormat>
  <Paragraphs>66</Paragraphs>
  <Slides>31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Aptos Narrow</vt:lpstr>
      <vt:lpstr>Arial</vt:lpstr>
      <vt:lpstr>Calibri Light</vt:lpstr>
      <vt:lpstr>Office Theme</vt:lpstr>
      <vt:lpstr>Metabarcoding Paper Plots</vt:lpstr>
      <vt:lpstr>Q1: Physical Environmental Analysis</vt:lpstr>
      <vt:lpstr>Q1</vt:lpstr>
      <vt:lpstr>Q1</vt:lpstr>
      <vt:lpstr>Q2: Comparison of Zooplankton Community with Physical Environmental Properties </vt:lpstr>
      <vt:lpstr>PowerPoint Presentation</vt:lpstr>
      <vt:lpstr>Q3: Community Composition </vt:lpstr>
      <vt:lpstr>Q3: Community Composition </vt:lpstr>
      <vt:lpstr>Q3: Community Composition </vt:lpstr>
      <vt:lpstr>Q3: Community Composition </vt:lpstr>
      <vt:lpstr>Q4: Zooplankton Taxon and Size-specific relationships with Environmental Properties   </vt:lpstr>
      <vt:lpstr>Q3: Patterns with Environment (Raw COI)</vt:lpstr>
      <vt:lpstr>Q3: Patterns with Environment (Raw COI)</vt:lpstr>
      <vt:lpstr>PowerPoint Presentation</vt:lpstr>
      <vt:lpstr>Q5: Variable PCR Experiment, Zooscan, and Comparison of Estimates of Zooplankton Abundance  </vt:lpstr>
      <vt:lpstr>Fido Amplification Efficiencies (Supplemental)</vt:lpstr>
      <vt:lpstr>Q5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Correlations</vt:lpstr>
      <vt:lpstr>COI-all </vt:lpstr>
      <vt:lpstr>COI-cycle </vt:lpstr>
      <vt:lpstr>COI-size </vt:lpstr>
      <vt:lpstr>COI Cluster</vt:lpstr>
      <vt:lpstr>18S-all </vt:lpstr>
      <vt:lpstr>18S-cycle </vt:lpstr>
      <vt:lpstr>18S-size </vt:lpstr>
      <vt:lpstr>18S Cluster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Dante Capone</dc:creator>
  <cp:lastModifiedBy>Dante Capone</cp:lastModifiedBy>
  <cp:revision>11</cp:revision>
  <cp:lastPrinted>2024-03-12T21:06:29Z</cp:lastPrinted>
  <dcterms:created xsi:type="dcterms:W3CDTF">2024-02-29T19:22:40Z</dcterms:created>
  <dcterms:modified xsi:type="dcterms:W3CDTF">2024-03-14T06:02:28Z</dcterms:modified>
</cp:coreProperties>
</file>